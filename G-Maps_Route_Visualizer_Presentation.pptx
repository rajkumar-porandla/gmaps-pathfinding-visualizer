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60152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000" b="1">
                <a:solidFill>
                  <a:srgbClr val="1A73E8"/>
                </a:solidFill>
                <a:latin typeface="Arial"/>
              </a:defRPr>
            </a:pPr>
            <a:r>
              <a:t>GOOGLE MAPS INSPIRED ROUTE VISUALIZER</a:t>
            </a:r>
          </a:p>
          <a:p>
            <a:pPr>
              <a:defRPr sz="1800" i="1">
                <a:solidFill>
                  <a:srgbClr val="5F6368"/>
                </a:solidFill>
                <a:latin typeface="Arial"/>
              </a:defRPr>
            </a:pPr>
            <a:r>
              <a:t>A High-Performance Pathfinding and Routing Simulation Platform</a:t>
            </a:r>
          </a:p>
          <a:p>
            <a:br/>
            <a:pPr>
              <a:defRPr sz="1400" b="1">
                <a:solidFill>
                  <a:srgbClr val="202124"/>
                </a:solidFill>
                <a:latin typeface="Arial"/>
              </a:defRPr>
            </a:pPr>
            <a:r>
              <a:t>Skill Development Project | B.Tech CSE 3rd Year</a:t>
            </a:r>
            <a:br/>
            <a:r>
              <a:t>Submitted By: Porandla Rajkumar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02124"/>
                </a:solidFill>
                <a:latin typeface="Arial"/>
              </a:defRPr>
            </a:pPr>
            <a:r>
              <a:t>Project Context &amp; Key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108173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</a:pPr>
            <a:r>
              <a:rPr b="1" sz="1600">
                <a:solidFill>
                  <a:srgbClr val="1A73E8"/>
                </a:solidFill>
              </a:rPr>
              <a:t>•  Core Scope: </a:t>
            </a:r>
            <a:r>
              <a:rPr sz="1500">
                <a:solidFill>
                  <a:srgbClr val="202124"/>
                </a:solidFill>
              </a:rPr>
              <a:t>Developed as a Skill Development Project to bridge the gap between theoretical graph algorithms and real-time visualization.</a:t>
            </a:r>
          </a:p>
          <a:p>
            <a:pPr>
              <a:spcAft>
                <a:spcPts val="1400"/>
              </a:spcAft>
            </a:pPr>
            <a:r>
              <a:rPr b="1" sz="1600">
                <a:solidFill>
                  <a:srgbClr val="1A73E8"/>
                </a:solidFill>
              </a:rPr>
              <a:t>•  Google Maps Theming: </a:t>
            </a:r>
            <a:r>
              <a:rPr sz="1500">
                <a:solidFill>
                  <a:srgbClr val="202124"/>
                </a:solidFill>
              </a:rPr>
              <a:t>Styled with real-world geographical design cues: location pins, construction roadblocks, and traffic delay markers.</a:t>
            </a:r>
          </a:p>
          <a:p>
            <a:pPr>
              <a:spcAft>
                <a:spcPts val="1400"/>
              </a:spcAft>
            </a:pPr>
            <a:r>
              <a:rPr b="1" sz="1600">
                <a:solidFill>
                  <a:srgbClr val="1A73E8"/>
                </a:solidFill>
              </a:rPr>
              <a:t>•  Navigation Logic: </a:t>
            </a:r>
            <a:r>
              <a:rPr sz="1500">
                <a:solidFill>
                  <a:srgbClr val="202124"/>
                </a:solidFill>
              </a:rPr>
              <a:t>Simulates unweighted (BFS, DFS) and weighted (Dijkstra, A* Search) algorithms in dynamic conditions.</a:t>
            </a:r>
          </a:p>
          <a:p>
            <a:pPr>
              <a:spcAft>
                <a:spcPts val="1400"/>
              </a:spcAft>
            </a:pPr>
            <a:r>
              <a:rPr b="1" sz="1600">
                <a:solidFill>
                  <a:srgbClr val="1A73E8"/>
                </a:solidFill>
              </a:rPr>
              <a:t>•  Performance-First: </a:t>
            </a:r>
            <a:r>
              <a:rPr sz="1500">
                <a:solidFill>
                  <a:srgbClr val="202124"/>
                </a:solidFill>
              </a:rPr>
              <a:t>Enforces layout isolation (CSS Containment) and Direct-DOM painting to eliminate React reconciliation lag during high-frequency visual updates.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02124"/>
                </a:solidFill>
                <a:latin typeface="Arial"/>
              </a:defRPr>
            </a:pPr>
            <a:r>
              <a:t>Technology Stack &amp; Rationale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108173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</a:pPr>
            <a:r>
              <a:rPr b="1" sz="1600">
                <a:solidFill>
                  <a:srgbClr val="1557B0"/>
                </a:solidFill>
              </a:rPr>
              <a:t>•  React (v19): </a:t>
            </a:r>
            <a:r>
              <a:rPr sz="1500">
                <a:solidFill>
                  <a:srgbClr val="202124"/>
                </a:solidFill>
              </a:rPr>
              <a:t>Component reuse, state hooks for controls, and modular layout encapsulation.</a:t>
            </a:r>
          </a:p>
          <a:p>
            <a:pPr>
              <a:spcAft>
                <a:spcPts val="1200"/>
              </a:spcAft>
            </a:pPr>
            <a:r>
              <a:rPr b="1" sz="1600">
                <a:solidFill>
                  <a:srgbClr val="1557B0"/>
                </a:solidFill>
              </a:rPr>
              <a:t>•  TypeScript: </a:t>
            </a:r>
            <a:r>
              <a:rPr sz="1500">
                <a:solidFill>
                  <a:srgbClr val="202124"/>
                </a:solidFill>
              </a:rPr>
              <a:t>Enforces static type checking, resolving verbatimModuleSyntax imports and null references.</a:t>
            </a:r>
          </a:p>
          <a:p>
            <a:pPr>
              <a:spcAft>
                <a:spcPts val="1200"/>
              </a:spcAft>
            </a:pPr>
            <a:r>
              <a:rPr b="1" sz="1600">
                <a:solidFill>
                  <a:srgbClr val="1557B0"/>
                </a:solidFill>
              </a:rPr>
              <a:t>•  TailwindCSS v4: </a:t>
            </a:r>
            <a:r>
              <a:rPr sz="1500">
                <a:solidFill>
                  <a:srgbClr val="202124"/>
                </a:solidFill>
              </a:rPr>
              <a:t>Utilizes modern CSS variables for light/dark skins and responsive flex/grid wrappers.</a:t>
            </a:r>
          </a:p>
          <a:p>
            <a:pPr>
              <a:spcAft>
                <a:spcPts val="1200"/>
              </a:spcAft>
            </a:pPr>
            <a:r>
              <a:rPr b="1" sz="1600">
                <a:solidFill>
                  <a:srgbClr val="1557B0"/>
                </a:solidFill>
              </a:rPr>
              <a:t>•  Vite (v6): </a:t>
            </a:r>
            <a:r>
              <a:rPr sz="1500">
                <a:solidFill>
                  <a:srgbClr val="202124"/>
                </a:solidFill>
              </a:rPr>
              <a:t>Provides instantaneous HMR and extremely lightweight, fast ESM production packaging.</a:t>
            </a:r>
          </a:p>
          <a:p>
            <a:pPr>
              <a:spcAft>
                <a:spcPts val="1200"/>
              </a:spcAft>
            </a:pPr>
            <a:r>
              <a:rPr b="1" sz="1600">
                <a:solidFill>
                  <a:srgbClr val="1557B0"/>
                </a:solidFill>
              </a:rPr>
              <a:t>•  Framer Motion: </a:t>
            </a:r>
            <a:r>
              <a:rPr sz="1500">
                <a:solidFill>
                  <a:srgbClr val="202124"/>
                </a:solidFill>
              </a:rPr>
              <a:t>Drives physics-based spring animations for overlay guides and transitions.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02124"/>
                </a:solidFill>
                <a:latin typeface="Arial"/>
              </a:defRPr>
            </a:pPr>
            <a:r>
              <a:t>Pathfinding: BFS &amp; DFS (Unweighted)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108173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1800">
                <a:solidFill>
                  <a:srgbClr val="1A73E8"/>
                </a:solidFill>
              </a:defRPr>
            </a:pPr>
            <a:r>
              <a:t>Breadth-First Search (BFS)</a:t>
            </a:r>
          </a:p>
          <a:p>
            <a:pPr>
              <a:spcAft>
                <a:spcPts val="1800"/>
              </a:spcAft>
              <a:defRPr sz="1400">
                <a:solidFill>
                  <a:srgbClr val="202124"/>
                </a:solidFill>
              </a:defRPr>
            </a:pPr>
            <a:r>
              <a:t>  - Strategy: Explores level-by-level using a FIFO Queue.</a:t>
            </a:r>
            <a:br/>
            <a:r>
              <a:t>  - Shortest Path: Guarantees shortest path on unweighted grids.</a:t>
            </a:r>
            <a:br/>
            <a:r>
              <a:t>  - Complexity: O(V + E) Time | O(V) Space.</a:t>
            </a:r>
          </a:p>
          <a:p>
            <a:pPr>
              <a:defRPr b="1" sz="1800">
                <a:solidFill>
                  <a:srgbClr val="1A73E8"/>
                </a:solidFill>
              </a:defRPr>
            </a:pPr>
            <a:r>
              <a:t>Depth-First Search (DFS)</a:t>
            </a:r>
          </a:p>
          <a:p>
            <a:pPr>
              <a:defRPr sz="1400">
                <a:solidFill>
                  <a:srgbClr val="202124"/>
                </a:solidFill>
              </a:defRPr>
            </a:pPr>
            <a:r>
              <a:t>  - Strategy: Explores as far as possible down each branch before backtracking. Uses a LIFO Stack.</a:t>
            </a:r>
            <a:br/>
            <a:r>
              <a:t>  - Shortest Path: Does NOT guarantee shortest path.</a:t>
            </a:r>
            <a:br/>
            <a:r>
              <a:t>  - Complexity: O(V + E) Time | O(V) Space.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02124"/>
                </a:solidFill>
                <a:latin typeface="Arial"/>
              </a:defRPr>
            </a:pPr>
            <a:r>
              <a:t>Pathfinding: Dijkstra &amp; A* Search (Weighted)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108173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1800">
                <a:solidFill>
                  <a:srgbClr val="1A73E8"/>
                </a:solidFill>
              </a:defRPr>
            </a:pPr>
            <a:r>
              <a:t>Dijkstra's Algorithm</a:t>
            </a:r>
          </a:p>
          <a:p>
            <a:pPr>
              <a:spcAft>
                <a:spcPts val="1800"/>
              </a:spcAft>
              <a:defRPr sz="1400">
                <a:solidFill>
                  <a:srgbClr val="202124"/>
                </a:solidFill>
              </a:defRPr>
            </a:pPr>
            <a:r>
              <a:t>  - Strategy: Extracts lowest-cost unvisited nodes using a binary Min-Heap priority queue.</a:t>
            </a:r>
            <a:br/>
            <a:r>
              <a:t>  - Shortest Path: Guarantees shortest path. Adapts to heavy traffic congestion zones.</a:t>
            </a:r>
            <a:br/>
            <a:r>
              <a:t>  - Complexity: O((V + E) log V) Time | O(V) Space.</a:t>
            </a:r>
          </a:p>
          <a:p>
            <a:pPr>
              <a:defRPr b="1" sz="1800">
                <a:solidFill>
                  <a:srgbClr val="1A73E8"/>
                </a:solidFill>
              </a:defRPr>
            </a:pPr>
            <a:r>
              <a:t>A* Search Algorithm</a:t>
            </a:r>
          </a:p>
          <a:p>
            <a:pPr>
              <a:defRPr sz="1400">
                <a:solidFill>
                  <a:srgbClr val="202124"/>
                </a:solidFill>
              </a:defRPr>
            </a:pPr>
            <a:r>
              <a:t>  - Strategy: Minimizes f(n) = g(n) + h(n), guided by Manhattan distance heuristic.</a:t>
            </a:r>
            <a:br/>
            <a:r>
              <a:t>  - Shortest Path: Guarantees shortest path. Explores highly targeted areas, beating Dijkstra.</a:t>
            </a:r>
            <a:br/>
            <a:r>
              <a:t>  - Complexity: O(E log V) Average Time | O(b^d) Space.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02124"/>
                </a:solidFill>
                <a:latin typeface="Arial"/>
              </a:defRPr>
            </a:pPr>
            <a:r>
              <a:t>Maze &amp; Terrain Generation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108173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</a:pPr>
            <a:r>
              <a:rPr b="1" sz="1600">
                <a:solidFill>
                  <a:srgbClr val="1557B0"/>
                </a:solidFill>
              </a:rPr>
              <a:t>•  Recursive Division: </a:t>
            </a:r>
            <a:r>
              <a:rPr sz="1500">
                <a:solidFill>
                  <a:srgbClr val="202124"/>
                </a:solidFill>
              </a:rPr>
              <a:t>Fractally divides the grid with horizontal/vertical walls. Places walls on even indices and passages on odd indices, forming consistent streets.</a:t>
            </a:r>
          </a:p>
          <a:p>
            <a:pPr>
              <a:spcAft>
                <a:spcPts val="1400"/>
              </a:spcAft>
            </a:pPr>
            <a:r>
              <a:rPr b="1" sz="1600">
                <a:solidFill>
                  <a:srgbClr val="1557B0"/>
                </a:solidFill>
              </a:rPr>
              <a:t>•  Random Roadblocks: </a:t>
            </a:r>
            <a:r>
              <a:rPr sz="1500">
                <a:solidFill>
                  <a:srgbClr val="202124"/>
                </a:solidFill>
              </a:rPr>
              <a:t>Scatters solid barrier roadblock walls across open grid paths based on a 30% density factor.</a:t>
            </a:r>
          </a:p>
          <a:p>
            <a:pPr>
              <a:spcAft>
                <a:spcPts val="1400"/>
              </a:spcAft>
            </a:pPr>
            <a:r>
              <a:rPr b="1" sz="1600">
                <a:solidFill>
                  <a:srgbClr val="1557B0"/>
                </a:solidFill>
              </a:rPr>
              <a:t>•  Random Traffic Jams: </a:t>
            </a:r>
            <a:r>
              <a:rPr sz="1500">
                <a:solidFill>
                  <a:srgbClr val="202124"/>
                </a:solidFill>
              </a:rPr>
              <a:t>Distributes heavy congestion weights (5x travel cost multiplier) across 25% of the grid to evaluate weighted path routing.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02124"/>
                </a:solidFill>
                <a:latin typeface="Arial"/>
              </a:defRPr>
            </a:pPr>
            <a:r>
              <a:t>Playback Controller &amp; Core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108173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</a:pPr>
            <a:r>
              <a:rPr b="1" sz="1600">
                <a:solidFill>
                  <a:srgbClr val="1A73E8"/>
                </a:solidFill>
              </a:rPr>
              <a:t>•  Step-by-Step Controller: </a:t>
            </a:r>
            <a:r>
              <a:rPr sz="1500">
                <a:solidFill>
                  <a:srgbClr val="202124"/>
                </a:solidFill>
              </a:rPr>
              <a:t>Play, Pause, Resume, Stop, and Restart routing animations. Suspends operations dynamically using index refs.</a:t>
            </a:r>
          </a:p>
          <a:p>
            <a:pPr>
              <a:spcAft>
                <a:spcPts val="1200"/>
              </a:spcAft>
            </a:pPr>
            <a:r>
              <a:rPr b="1" sz="1600">
                <a:solidFill>
                  <a:srgbClr val="1A73E8"/>
                </a:solidFill>
              </a:rPr>
              <a:t>•  Speed and Grid Customizers: </a:t>
            </a:r>
            <a:r>
              <a:rPr sz="1500">
                <a:solidFill>
                  <a:srgbClr val="202124"/>
                </a:solidFill>
              </a:rPr>
              <a:t>6 speed presets (Very Slow to Instant) and 6 grid options (20x20 up to 60x40) with auto-resizing.</a:t>
            </a:r>
          </a:p>
          <a:p>
            <a:pPr>
              <a:spcAft>
                <a:spcPts val="1200"/>
              </a:spcAft>
            </a:pPr>
            <a:r>
              <a:rPr b="1" sz="1600">
                <a:solidFill>
                  <a:srgbClr val="1A73E8"/>
                </a:solidFill>
              </a:rPr>
              <a:t>•  Comparison Benchmarking: </a:t>
            </a:r>
            <a:r>
              <a:rPr sz="1500">
                <a:solidFill>
                  <a:srgbClr val="202124"/>
                </a:solidFill>
              </a:rPr>
              <a:t>Compares all pathfinders concurrently, reporting CPU speeds, visited nodes, path cost, and RAM. Exports to JSON/CSV.</a:t>
            </a:r>
          </a:p>
          <a:p>
            <a:pPr>
              <a:spcAft>
                <a:spcPts val="1200"/>
              </a:spcAft>
            </a:pPr>
            <a:r>
              <a:rPr b="1" sz="1600">
                <a:solidFill>
                  <a:srgbClr val="1A73E8"/>
                </a:solidFill>
              </a:rPr>
              <a:t>•  JSON Save &amp; Load: </a:t>
            </a:r>
            <a:r>
              <a:rPr sz="1500">
                <a:solidFill>
                  <a:srgbClr val="202124"/>
                </a:solidFill>
              </a:rPr>
              <a:t>Encodes wall/weight coordinates and dimensions to JSON files, allowing layouts sharing.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02124"/>
                </a:solidFill>
                <a:latin typeface="Arial"/>
              </a:defRPr>
            </a:pPr>
            <a:r>
              <a:t>Viva Mode &amp; Demonstration Panel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108173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i="1" sz="1500">
                <a:solidFill>
                  <a:srgbClr val="5F6368"/>
                </a:solidFill>
              </a:defRPr>
            </a:pPr>
            <a:r>
              <a:t>Designed specifically to aid students during academic project evaluations:</a:t>
            </a:r>
          </a:p>
          <a:p>
            <a:pPr>
              <a:spcAft>
                <a:spcPts val="1200"/>
              </a:spcAft>
            </a:pPr>
            <a:r>
              <a:rPr b="1" sz="1600">
                <a:solidFill>
                  <a:srgbClr val="1557B0"/>
                </a:solidFill>
              </a:rPr>
              <a:t>•  Live Stack/Queue View: </a:t>
            </a:r>
            <a:r>
              <a:rPr sz="1500">
                <a:solidFill>
                  <a:srgbClr val="202124"/>
                </a:solidFill>
              </a:rPr>
              <a:t>Renders index contents of the active Queue (BFS) or Stack (DFS) at each evaluation step.</a:t>
            </a:r>
          </a:p>
          <a:p>
            <a:pPr>
              <a:spcAft>
                <a:spcPts val="1200"/>
              </a:spcAft>
            </a:pPr>
            <a:r>
              <a:rPr b="1" sz="1600">
                <a:solidFill>
                  <a:srgbClr val="1557B0"/>
                </a:solidFill>
              </a:rPr>
              <a:t>•  Heap Priority Queue Inspector: </a:t>
            </a:r>
            <a:r>
              <a:rPr sz="1500">
                <a:solidFill>
                  <a:srgbClr val="202124"/>
                </a:solidFill>
              </a:rPr>
              <a:t>Displays node weights and f/g/h values sorted in the binary Min-Heap during Dijkstra/A* execution.</a:t>
            </a:r>
          </a:p>
          <a:p>
            <a:pPr>
              <a:spcAft>
                <a:spcPts val="1200"/>
              </a:spcAft>
            </a:pPr>
            <a:r>
              <a:rPr b="1" sz="1600">
                <a:solidFill>
                  <a:srgbClr val="1557B0"/>
                </a:solidFill>
              </a:rPr>
              <a:t>•  Interactive Suspend: </a:t>
            </a:r>
            <a:r>
              <a:rPr sz="1500">
                <a:solidFill>
                  <a:srgbClr val="202124"/>
                </a:solidFill>
              </a:rPr>
              <a:t>Evaluators can pause animations to inspect exact parent-child relations and distance variables of current nodes.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02124"/>
                </a:solidFill>
                <a:latin typeface="Arial"/>
              </a:defRPr>
            </a:pPr>
            <a:r>
              <a:t>Performance &amp; Memory Tuning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108173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</a:pPr>
            <a:r>
              <a:rPr b="1" sz="1600">
                <a:solidFill>
                  <a:srgbClr val="1A73E8"/>
                </a:solidFill>
              </a:rPr>
              <a:t>•  Direct-DOM Paint Injections: </a:t>
            </a:r>
            <a:r>
              <a:rPr sz="1500">
                <a:solidFill>
                  <a:srgbClr val="202124"/>
                </a:solidFill>
              </a:rPr>
              <a:t>Bypasses React virtual DOM reconciliation during playback. Paints classes directly onto cells, avoiding browser reflow lag and maintaining a steady 60 FPS on large 60x40 grids.</a:t>
            </a:r>
          </a:p>
          <a:p>
            <a:pPr>
              <a:spcAft>
                <a:spcPts val="1200"/>
              </a:spcAft>
            </a:pPr>
            <a:r>
              <a:rPr b="1" sz="1600">
                <a:solidFill>
                  <a:srgbClr val="1A73E8"/>
                </a:solidFill>
              </a:rPr>
              <a:t>•  CSS Layout Containment: </a:t>
            </a:r>
            <a:r>
              <a:rPr sz="1500">
                <a:solidFill>
                  <a:srgbClr val="202124"/>
                </a:solidFill>
              </a:rPr>
              <a:t>Applies 'contain: layout style paint' rules on nodes, isolating style recalcs to modified grid coordinates.</a:t>
            </a:r>
          </a:p>
          <a:p>
            <a:pPr>
              <a:spcAft>
                <a:spcPts val="1200"/>
              </a:spcAft>
            </a:pPr>
            <a:r>
              <a:rPr b="1" sz="1600">
                <a:solidFill>
                  <a:srgbClr val="1A73E8"/>
                </a:solidFill>
              </a:rPr>
              <a:t>•  Optimized Min-Heap: </a:t>
            </a:r>
            <a:r>
              <a:rPr sz="1500">
                <a:solidFill>
                  <a:srgbClr val="202124"/>
                </a:solidFill>
              </a:rPr>
              <a:t>Replaced standard array sort queries with binary heaps, dropping Dijkstra runtime from O(V^2) to O((V+E) log V).</a:t>
            </a:r>
          </a:p>
          <a:p>
            <a:pPr>
              <a:spcAft>
                <a:spcPts val="1200"/>
              </a:spcAft>
            </a:pPr>
            <a:r>
              <a:rPr b="1" sz="1600">
                <a:solidFill>
                  <a:srgbClr val="1A73E8"/>
                </a:solidFill>
              </a:rPr>
              <a:t>•  React.memo &amp; useCallback Hooks: </a:t>
            </a:r>
            <a:r>
              <a:rPr sz="1500">
                <a:solidFill>
                  <a:srgbClr val="202124"/>
                </a:solidFill>
              </a:rPr>
              <a:t>Memoizes Node components to block redundant re-renders of unmodified cells.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60152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400" b="1">
                <a:solidFill>
                  <a:srgbClr val="1A73E8"/>
                </a:solidFill>
                <a:latin typeface="Arial"/>
              </a:defRPr>
            </a:pPr>
            <a:r>
              <a:t>THANK YOU!</a:t>
            </a:r>
          </a:p>
          <a:p>
            <a:pPr>
              <a:defRPr sz="1800">
                <a:solidFill>
                  <a:srgbClr val="202124"/>
                </a:solidFill>
                <a:latin typeface="Arial"/>
              </a:defRPr>
            </a:pPr>
            <a:r>
              <a:t>Google Maps Inspired Path Finding Visualizer</a:t>
            </a:r>
            <a:br/>
            <a:r>
              <a:t>Questions &amp; Demonstration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